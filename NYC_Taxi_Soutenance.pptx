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projet : construire le Data Warehouse analytique d'une société de transport à partir des données ouvertes NYC TLC. 12 mois de 2025, environ 48,7 millions de courses. Je présente l'architecture, ma partie (le nettoyage), puis les KPIs, et je termine par la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contient les données exactement comme elles arrivent du Parquet, ce qui permet de tout rejouer. STAGING applique le nettoyage et calcule les enrichissements : durée, vitesse moyenne, catégories de distance et de période. FINAL expose trois tables prêtes pour l'analyse. Snowflake porte le stockage et le calcul, dbt versionne et teste les transformations, Streamlit affiche le résultat.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ma partie. Je mesure d'abord les anomalies dans RAW, puis je filtre dans STAGING sans jamais toucher RAW. Quatre règles de rejet : horodatages manquants, dépose avant prise en charge, distance nulle ou supérieure à 1 000 miles, montant négatif. Les passagers manquants sont très fréquents : je les garde en NULL plutôt que d'inventer une valeur. Résultat : 1 522 287 lignes rejetées sur environ 48,7 millions, soit 3,12 %, et tous les contrôles finaux sont à zéro. J'ai aussi repéré 29 lignes datées hors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tables d'analyse dans FINAL, une par axe : le temps, l'heure de la journée, la géographie. Le même nettoyage est repris dans dbt, avec des tests not_null et unique sur les clés, ce qui garantit une ligne par jour, par heure et par zone. Le dashboard Streamlit lit ces tables et ajoute un onglet qualité qui montre les contrôles sur 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en direct du dashboard : d'abord les KPIs globaux, puis l'onglet zones pour montrer l'interactivité, enfin l'onglet qualité pour boucler sur le nettoyage.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A"/>
        </a:solidFill>
      </p:bgPr>
    </p:bg>
    <p:spTree>
      <p:nvGrpSpPr>
        <p:cNvPr id="1" name=""/>
        <p:cNvGrpSpPr/>
        <p:nvPr/>
      </p:nvGrpSpPr>
      <p:grpSpPr>
        <a:xfrm>
          <a:off x="0" y="0"/>
          <a:ext cx="0" cy="0"/>
          <a:chOff x="0" y="0"/>
          <a:chExt cx="0" cy="0"/>
        </a:xfrm>
      </p:grpSpPr>
      <p:sp>
        <p:nvSpPr>
          <p:cNvPr id="2" name="Text 0"/>
          <p:cNvSpPr txBox="1"/>
          <p:nvPr/>
        </p:nvSpPr>
        <p:spPr>
          <a:xfrm>
            <a:off x="548640" y="1097280"/>
            <a:ext cx="80467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NYC Yellow Taxi</a:t>
            </a:r>
            <a:endParaRPr lang="en-US" sz="4400" dirty="0"/>
          </a:p>
        </p:txBody>
      </p:sp>
      <p:sp>
        <p:nvSpPr>
          <p:cNvPr id="3" name="Text 1"/>
          <p:cNvSpPr txBox="1"/>
          <p:nvPr/>
        </p:nvSpPr>
        <p:spPr>
          <a:xfrm>
            <a:off x="548640" y="1920240"/>
            <a:ext cx="8046720" cy="548640"/>
          </a:xfrm>
          <a:prstGeom prst="rect">
            <a:avLst/>
          </a:prstGeom>
          <a:noFill/>
          <a:ln/>
        </p:spPr>
        <p:txBody>
          <a:bodyPr wrap="square" lIns="0" tIns="0" rIns="0" bIns="0" rtlCol="0" anchor="ctr"/>
          <a:lstStyle/>
          <a:p>
            <a:pPr indent="0" marL="0">
              <a:buNone/>
            </a:pPr>
            <a:r>
              <a:rPr lang="en-US" sz="2400" dirty="0">
                <a:solidFill>
                  <a:srgbClr val="F7B500"/>
                </a:solidFill>
                <a:latin typeface="Calibri" pitchFamily="34" charset="0"/>
                <a:ea typeface="Calibri" pitchFamily="34" charset="-122"/>
                <a:cs typeface="Calibri" pitchFamily="34" charset="-120"/>
              </a:rPr>
              <a:t>Data Warehouse Snowflake de bout en bout</a:t>
            </a:r>
            <a:endParaRPr lang="en-US" sz="2400" dirty="0"/>
          </a:p>
        </p:txBody>
      </p:sp>
      <p:sp>
        <p:nvSpPr>
          <p:cNvPr id="4" name="Text 2"/>
          <p:cNvSpPr txBox="1"/>
          <p:nvPr/>
        </p:nvSpPr>
        <p:spPr>
          <a:xfrm>
            <a:off x="548640" y="2651760"/>
            <a:ext cx="8046720" cy="36576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RAW → STAGING → FINAL  ·  dbt  ·  Streamlit</a:t>
            </a:r>
            <a:endParaRPr lang="en-US" sz="1600" dirty="0"/>
          </a:p>
        </p:txBody>
      </p:sp>
      <p:sp>
        <p:nvSpPr>
          <p:cNvPr id="5" name="Text 3"/>
          <p:cNvSpPr txBox="1"/>
          <p:nvPr/>
        </p:nvSpPr>
        <p:spPr>
          <a:xfrm>
            <a:off x="548640" y="3063240"/>
            <a:ext cx="8046720" cy="36576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12 mois de 2025  ·  ~48,7 M de courses</a:t>
            </a:r>
            <a:endParaRPr lang="en-US" sz="1600" dirty="0"/>
          </a:p>
        </p:txBody>
      </p:sp>
      <p:sp>
        <p:nvSpPr>
          <p:cNvPr id="6" name="Text 4"/>
          <p:cNvSpPr txBox="1"/>
          <p:nvPr/>
        </p:nvSpPr>
        <p:spPr>
          <a:xfrm>
            <a:off x="548640" y="4297680"/>
            <a:ext cx="8046720" cy="3200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Asmaà  ·  Formation Data Engineering, Simplon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Une architecture en 3 couches</a:t>
            </a:r>
            <a:endParaRPr lang="en-US" sz="3200" dirty="0"/>
          </a:p>
        </p:txBody>
      </p:sp>
      <p:sp>
        <p:nvSpPr>
          <p:cNvPr id="3" name="Shape 1"/>
          <p:cNvSpPr/>
          <p:nvPr/>
        </p:nvSpPr>
        <p:spPr>
          <a:xfrm>
            <a:off x="457200" y="1234440"/>
            <a:ext cx="2377440" cy="2331720"/>
          </a:xfrm>
          <a:prstGeom prst="roundRect">
            <a:avLst>
              <a:gd name="adj" fmla="val 4706"/>
            </a:avLst>
          </a:prstGeom>
          <a:solidFill>
            <a:srgbClr val="F4F5F7"/>
          </a:solidFill>
          <a:ln/>
          <a:effectLst>
            <a:outerShdw sx="100000" sy="100000" kx="0" ky="0" algn="bl" rotWithShape="0" blurRad="76200" dist="25400" dir="5400000">
              <a:srgbClr val="000000">
                <a:alpha val="12000"/>
              </a:srgbClr>
            </a:outerShdw>
          </a:effectLst>
        </p:spPr>
      </p:sp>
      <p:sp>
        <p:nvSpPr>
          <p:cNvPr id="4" name="Text 2"/>
          <p:cNvSpPr txBox="1"/>
          <p:nvPr/>
        </p:nvSpPr>
        <p:spPr>
          <a:xfrm>
            <a:off x="685800" y="1371600"/>
            <a:ext cx="1920240" cy="457200"/>
          </a:xfrm>
          <a:prstGeom prst="rect">
            <a:avLst/>
          </a:prstGeom>
          <a:noFill/>
          <a:ln/>
        </p:spPr>
        <p:txBody>
          <a:bodyPr wrap="square" lIns="0" tIns="0" rIns="0" bIns="0" rtlCol="0" anchor="ctr"/>
          <a:lstStyle/>
          <a:p>
            <a:pPr indent="0" marL="0">
              <a:buNone/>
            </a:pPr>
            <a:r>
              <a:rPr lang="en-US" sz="2400" b="1" dirty="0">
                <a:solidFill>
                  <a:srgbClr val="6B7280"/>
                </a:solidFill>
                <a:latin typeface="Cambria" pitchFamily="34" charset="0"/>
                <a:ea typeface="Cambria" pitchFamily="34" charset="-122"/>
                <a:cs typeface="Cambria" pitchFamily="34" charset="-120"/>
              </a:rPr>
              <a:t>RAW</a:t>
            </a:r>
            <a:endParaRPr lang="en-US" sz="2400" dirty="0"/>
          </a:p>
        </p:txBody>
      </p:sp>
      <p:sp>
        <p:nvSpPr>
          <p:cNvPr id="5" name="Text 3"/>
          <p:cNvSpPr txBox="1"/>
          <p:nvPr/>
        </p:nvSpPr>
        <p:spPr>
          <a:xfrm>
            <a:off x="685800" y="1828800"/>
            <a:ext cx="192024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Brut</a:t>
            </a:r>
            <a:endParaRPr lang="en-US" sz="1200" dirty="0"/>
          </a:p>
        </p:txBody>
      </p:sp>
      <p:sp>
        <p:nvSpPr>
          <p:cNvPr id="6" name="Text 4"/>
          <p:cNvSpPr txBox="1"/>
          <p:nvPr/>
        </p:nvSpPr>
        <p:spPr>
          <a:xfrm>
            <a:off x="685800" y="2194560"/>
            <a:ext cx="19659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Parquet chargé tel quel</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Aucune modification</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~48,7 M de lignes</a:t>
            </a:r>
            <a:endParaRPr lang="en-US" sz="1400" dirty="0"/>
          </a:p>
        </p:txBody>
      </p:sp>
      <p:sp>
        <p:nvSpPr>
          <p:cNvPr id="7" name="Shape 5"/>
          <p:cNvSpPr/>
          <p:nvPr/>
        </p:nvSpPr>
        <p:spPr>
          <a:xfrm>
            <a:off x="2926080" y="2194560"/>
            <a:ext cx="365760" cy="320040"/>
          </a:xfrm>
          <a:prstGeom prst="rightArrow">
            <a:avLst/>
          </a:prstGeom>
          <a:solidFill>
            <a:srgbClr val="F7B500"/>
          </a:solidFill>
          <a:ln w="12700">
            <a:solidFill>
              <a:srgbClr val="F7B500"/>
            </a:solidFill>
            <a:prstDash val="solid"/>
          </a:ln>
        </p:spPr>
      </p:sp>
      <p:sp>
        <p:nvSpPr>
          <p:cNvPr id="8" name="Shape 6"/>
          <p:cNvSpPr/>
          <p:nvPr/>
        </p:nvSpPr>
        <p:spPr>
          <a:xfrm>
            <a:off x="3383280" y="1234440"/>
            <a:ext cx="2377440" cy="2331720"/>
          </a:xfrm>
          <a:prstGeom prst="roundRect">
            <a:avLst>
              <a:gd name="adj" fmla="val 4706"/>
            </a:avLst>
          </a:prstGeom>
          <a:solidFill>
            <a:srgbClr val="F4F5F7"/>
          </a:solidFill>
          <a:ln/>
          <a:effectLst>
            <a:outerShdw sx="100000" sy="100000" kx="0" ky="0" algn="bl" rotWithShape="0" blurRad="76200" dist="25400" dir="5400000">
              <a:srgbClr val="000000">
                <a:alpha val="12000"/>
              </a:srgbClr>
            </a:outerShdw>
          </a:effectLst>
        </p:spPr>
      </p:sp>
      <p:sp>
        <p:nvSpPr>
          <p:cNvPr id="9" name="Text 7"/>
          <p:cNvSpPr txBox="1"/>
          <p:nvPr/>
        </p:nvSpPr>
        <p:spPr>
          <a:xfrm>
            <a:off x="3611880" y="1371600"/>
            <a:ext cx="1920240" cy="457200"/>
          </a:xfrm>
          <a:prstGeom prst="rect">
            <a:avLst/>
          </a:prstGeom>
          <a:noFill/>
          <a:ln/>
        </p:spPr>
        <p:txBody>
          <a:bodyPr wrap="square" lIns="0" tIns="0" rIns="0" bIns="0" rtlCol="0" anchor="ctr"/>
          <a:lstStyle/>
          <a:p>
            <a:pPr indent="0" marL="0">
              <a:buNone/>
            </a:pPr>
            <a:r>
              <a:rPr lang="en-US" sz="2400" b="1" dirty="0">
                <a:solidFill>
                  <a:srgbClr val="B7791F"/>
                </a:solidFill>
                <a:latin typeface="Cambria" pitchFamily="34" charset="0"/>
                <a:ea typeface="Cambria" pitchFamily="34" charset="-122"/>
                <a:cs typeface="Cambria" pitchFamily="34" charset="-120"/>
              </a:rPr>
              <a:t>STAGING</a:t>
            </a:r>
            <a:endParaRPr lang="en-US" sz="2400" dirty="0"/>
          </a:p>
        </p:txBody>
      </p:sp>
      <p:sp>
        <p:nvSpPr>
          <p:cNvPr id="10" name="Text 8"/>
          <p:cNvSpPr txBox="1"/>
          <p:nvPr/>
        </p:nvSpPr>
        <p:spPr>
          <a:xfrm>
            <a:off x="3611880" y="1828800"/>
            <a:ext cx="192024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Nettoyé et enrichi</a:t>
            </a:r>
            <a:endParaRPr lang="en-US" sz="1200" dirty="0"/>
          </a:p>
        </p:txBody>
      </p:sp>
      <p:sp>
        <p:nvSpPr>
          <p:cNvPr id="11" name="Text 9"/>
          <p:cNvSpPr txBox="1"/>
          <p:nvPr/>
        </p:nvSpPr>
        <p:spPr>
          <a:xfrm>
            <a:off x="3611880" y="2194560"/>
            <a:ext cx="19659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Filtres qualité</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Durée, vitesse</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Catégories distance / période</a:t>
            </a:r>
            <a:endParaRPr lang="en-US" sz="1400" dirty="0"/>
          </a:p>
        </p:txBody>
      </p:sp>
      <p:sp>
        <p:nvSpPr>
          <p:cNvPr id="12" name="Shape 10"/>
          <p:cNvSpPr/>
          <p:nvPr/>
        </p:nvSpPr>
        <p:spPr>
          <a:xfrm>
            <a:off x="5852160" y="2194560"/>
            <a:ext cx="365760" cy="320040"/>
          </a:xfrm>
          <a:prstGeom prst="rightArrow">
            <a:avLst/>
          </a:prstGeom>
          <a:solidFill>
            <a:srgbClr val="F7B500"/>
          </a:solidFill>
          <a:ln w="12700">
            <a:solidFill>
              <a:srgbClr val="F7B500"/>
            </a:solidFill>
            <a:prstDash val="solid"/>
          </a:ln>
        </p:spPr>
      </p:sp>
      <p:sp>
        <p:nvSpPr>
          <p:cNvPr id="13" name="Shape 11"/>
          <p:cNvSpPr/>
          <p:nvPr/>
        </p:nvSpPr>
        <p:spPr>
          <a:xfrm>
            <a:off x="6309360" y="1234440"/>
            <a:ext cx="2377440" cy="2331720"/>
          </a:xfrm>
          <a:prstGeom prst="roundRect">
            <a:avLst>
              <a:gd name="adj" fmla="val 4706"/>
            </a:avLst>
          </a:prstGeom>
          <a:solidFill>
            <a:srgbClr val="F4F5F7"/>
          </a:solidFill>
          <a:ln/>
          <a:effectLst>
            <a:outerShdw sx="100000" sy="100000" kx="0" ky="0" algn="bl" rotWithShape="0" blurRad="76200" dist="25400" dir="5400000">
              <a:srgbClr val="000000">
                <a:alpha val="12000"/>
              </a:srgbClr>
            </a:outerShdw>
          </a:effectLst>
        </p:spPr>
      </p:sp>
      <p:sp>
        <p:nvSpPr>
          <p:cNvPr id="14" name="Text 12"/>
          <p:cNvSpPr txBox="1"/>
          <p:nvPr/>
        </p:nvSpPr>
        <p:spPr>
          <a:xfrm>
            <a:off x="6537960" y="1371600"/>
            <a:ext cx="1920240" cy="45720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FINAL</a:t>
            </a:r>
            <a:endParaRPr lang="en-US" sz="2400" dirty="0"/>
          </a:p>
        </p:txBody>
      </p:sp>
      <p:sp>
        <p:nvSpPr>
          <p:cNvPr id="15" name="Text 13"/>
          <p:cNvSpPr txBox="1"/>
          <p:nvPr/>
        </p:nvSpPr>
        <p:spPr>
          <a:xfrm>
            <a:off x="6537960" y="1828800"/>
            <a:ext cx="192024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Analytique</a:t>
            </a:r>
            <a:endParaRPr lang="en-US" sz="1200" dirty="0"/>
          </a:p>
        </p:txBody>
      </p:sp>
      <p:sp>
        <p:nvSpPr>
          <p:cNvPr id="16" name="Text 14"/>
          <p:cNvSpPr txBox="1"/>
          <p:nvPr/>
        </p:nvSpPr>
        <p:spPr>
          <a:xfrm>
            <a:off x="6537960" y="2194560"/>
            <a:ext cx="19659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DAILY_SUMMARY</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HOURLY_PATTERNS</a:t>
            </a:r>
            <a:endParaRPr lang="en-US" sz="1400" dirty="0"/>
          </a:p>
          <a:p>
            <a:pPr marL="342900" indent="-342900">
              <a:spcAft>
                <a:spcPts val="600"/>
              </a:spcAft>
              <a:buSzPct val="100000"/>
              <a:buChar char="•"/>
            </a:pPr>
            <a:r>
              <a:rPr lang="en-US" sz="1400" dirty="0">
                <a:solidFill>
                  <a:srgbClr val="1B1F2A"/>
                </a:solidFill>
                <a:latin typeface="Calibri" pitchFamily="34" charset="0"/>
                <a:ea typeface="Calibri" pitchFamily="34" charset="-122"/>
                <a:cs typeface="Calibri" pitchFamily="34" charset="-120"/>
              </a:rPr>
              <a:t>ZONE_ANALYSIS</a:t>
            </a:r>
            <a:endParaRPr lang="en-US" sz="1400" dirty="0"/>
          </a:p>
        </p:txBody>
      </p:sp>
      <p:sp>
        <p:nvSpPr>
          <p:cNvPr id="17" name="Shape 15"/>
          <p:cNvSpPr/>
          <p:nvPr/>
        </p:nvSpPr>
        <p:spPr>
          <a:xfrm>
            <a:off x="457200" y="3886200"/>
            <a:ext cx="2377440" cy="685800"/>
          </a:xfrm>
          <a:prstGeom prst="roundRect">
            <a:avLst>
              <a:gd name="adj" fmla="val 16000"/>
            </a:avLst>
          </a:prstGeom>
          <a:solidFill>
            <a:srgbClr val="1B1F2A"/>
          </a:solidFill>
          <a:ln/>
        </p:spPr>
      </p:sp>
      <p:sp>
        <p:nvSpPr>
          <p:cNvPr id="18" name="Text 16"/>
          <p:cNvSpPr txBox="1"/>
          <p:nvPr/>
        </p:nvSpPr>
        <p:spPr>
          <a:xfrm>
            <a:off x="640080" y="3931920"/>
            <a:ext cx="2011680" cy="594360"/>
          </a:xfrm>
          <a:prstGeom prst="rect">
            <a:avLst/>
          </a:prstGeom>
          <a:noFill/>
          <a:ln/>
        </p:spPr>
        <p:txBody>
          <a:bodyPr wrap="square" lIns="0" tIns="0" rIns="0" bIns="0" rtlCol="0" anchor="ctr"/>
          <a:lstStyle/>
          <a:p>
            <a:pPr indent="0" marL="0">
              <a:buNone/>
            </a:pPr>
            <a:r>
              <a:rPr lang="en-US" sz="1600" b="1" dirty="0">
                <a:solidFill>
                  <a:srgbClr val="F7B500"/>
                </a:solidFill>
                <a:latin typeface="Calibri" pitchFamily="34" charset="0"/>
                <a:ea typeface="Calibri" pitchFamily="34" charset="-122"/>
                <a:cs typeface="Calibri" pitchFamily="34" charset="-120"/>
              </a:rPr>
              <a:t>Snowflake</a:t>
            </a:r>
            <a:endParaRPr lang="en-US" sz="1600" dirty="0"/>
          </a:p>
          <a:p>
            <a:pPr indent="0" marL="0">
              <a:buNone/>
            </a:pPr>
            <a:r>
              <a:rPr lang="en-US" sz="1200" dirty="0">
                <a:solidFill>
                  <a:srgbClr val="CBD5E1"/>
                </a:solidFill>
                <a:latin typeface="Calibri" pitchFamily="34" charset="0"/>
                <a:ea typeface="Calibri" pitchFamily="34" charset="-122"/>
                <a:cs typeface="Calibri" pitchFamily="34" charset="-120"/>
              </a:rPr>
              <a:t>stockage et calcul</a:t>
            </a:r>
            <a:endParaRPr lang="en-US" sz="1600" dirty="0"/>
          </a:p>
        </p:txBody>
      </p:sp>
      <p:sp>
        <p:nvSpPr>
          <p:cNvPr id="19" name="Shape 17"/>
          <p:cNvSpPr/>
          <p:nvPr/>
        </p:nvSpPr>
        <p:spPr>
          <a:xfrm>
            <a:off x="3383280" y="3886200"/>
            <a:ext cx="2377440" cy="685800"/>
          </a:xfrm>
          <a:prstGeom prst="roundRect">
            <a:avLst>
              <a:gd name="adj" fmla="val 16000"/>
            </a:avLst>
          </a:prstGeom>
          <a:solidFill>
            <a:srgbClr val="1B1F2A"/>
          </a:solidFill>
          <a:ln/>
        </p:spPr>
      </p:sp>
      <p:sp>
        <p:nvSpPr>
          <p:cNvPr id="20" name="Text 18"/>
          <p:cNvSpPr txBox="1"/>
          <p:nvPr/>
        </p:nvSpPr>
        <p:spPr>
          <a:xfrm>
            <a:off x="3566160" y="3931920"/>
            <a:ext cx="2011680" cy="594360"/>
          </a:xfrm>
          <a:prstGeom prst="rect">
            <a:avLst/>
          </a:prstGeom>
          <a:noFill/>
          <a:ln/>
        </p:spPr>
        <p:txBody>
          <a:bodyPr wrap="square" lIns="0" tIns="0" rIns="0" bIns="0" rtlCol="0" anchor="ctr"/>
          <a:lstStyle/>
          <a:p>
            <a:pPr indent="0" marL="0">
              <a:buNone/>
            </a:pPr>
            <a:r>
              <a:rPr lang="en-US" sz="1600" b="1" dirty="0">
                <a:solidFill>
                  <a:srgbClr val="F7B500"/>
                </a:solidFill>
                <a:latin typeface="Calibri" pitchFamily="34" charset="0"/>
                <a:ea typeface="Calibri" pitchFamily="34" charset="-122"/>
                <a:cs typeface="Calibri" pitchFamily="34" charset="-120"/>
              </a:rPr>
              <a:t>dbt</a:t>
            </a:r>
            <a:endParaRPr lang="en-US" sz="1600" dirty="0"/>
          </a:p>
          <a:p>
            <a:pPr indent="0" marL="0">
              <a:buNone/>
            </a:pPr>
            <a:r>
              <a:rPr lang="en-US" sz="1200" dirty="0">
                <a:solidFill>
                  <a:srgbClr val="CBD5E1"/>
                </a:solidFill>
                <a:latin typeface="Calibri" pitchFamily="34" charset="0"/>
                <a:ea typeface="Calibri" pitchFamily="34" charset="-122"/>
                <a:cs typeface="Calibri" pitchFamily="34" charset="-120"/>
              </a:rPr>
              <a:t>transformations testées</a:t>
            </a:r>
            <a:endParaRPr lang="en-US" sz="1600" dirty="0"/>
          </a:p>
        </p:txBody>
      </p:sp>
      <p:sp>
        <p:nvSpPr>
          <p:cNvPr id="21" name="Shape 19"/>
          <p:cNvSpPr/>
          <p:nvPr/>
        </p:nvSpPr>
        <p:spPr>
          <a:xfrm>
            <a:off x="6309360" y="3886200"/>
            <a:ext cx="2377440" cy="685800"/>
          </a:xfrm>
          <a:prstGeom prst="roundRect">
            <a:avLst>
              <a:gd name="adj" fmla="val 16000"/>
            </a:avLst>
          </a:prstGeom>
          <a:solidFill>
            <a:srgbClr val="1B1F2A"/>
          </a:solidFill>
          <a:ln/>
        </p:spPr>
      </p:sp>
      <p:sp>
        <p:nvSpPr>
          <p:cNvPr id="22" name="Text 20"/>
          <p:cNvSpPr txBox="1"/>
          <p:nvPr/>
        </p:nvSpPr>
        <p:spPr>
          <a:xfrm>
            <a:off x="6492240" y="3931920"/>
            <a:ext cx="2011680" cy="594360"/>
          </a:xfrm>
          <a:prstGeom prst="rect">
            <a:avLst/>
          </a:prstGeom>
          <a:noFill/>
          <a:ln/>
        </p:spPr>
        <p:txBody>
          <a:bodyPr wrap="square" lIns="0" tIns="0" rIns="0" bIns="0" rtlCol="0" anchor="ctr"/>
          <a:lstStyle/>
          <a:p>
            <a:pPr indent="0" marL="0">
              <a:buNone/>
            </a:pPr>
            <a:r>
              <a:rPr lang="en-US" sz="1600" b="1" dirty="0">
                <a:solidFill>
                  <a:srgbClr val="F7B500"/>
                </a:solidFill>
                <a:latin typeface="Calibri" pitchFamily="34" charset="0"/>
                <a:ea typeface="Calibri" pitchFamily="34" charset="-122"/>
                <a:cs typeface="Calibri" pitchFamily="34" charset="-120"/>
              </a:rPr>
              <a:t>Streamlit</a:t>
            </a:r>
            <a:endParaRPr lang="en-US" sz="1600" dirty="0"/>
          </a:p>
          <a:p>
            <a:pPr indent="0" marL="0">
              <a:buNone/>
            </a:pPr>
            <a:r>
              <a:rPr lang="en-US" sz="1200" dirty="0">
                <a:solidFill>
                  <a:srgbClr val="CBD5E1"/>
                </a:solidFill>
                <a:latin typeface="Calibri" pitchFamily="34" charset="0"/>
                <a:ea typeface="Calibri" pitchFamily="34" charset="-122"/>
                <a:cs typeface="Calibri" pitchFamily="34" charset="-120"/>
              </a:rPr>
              <a:t>dashboard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Nettoyage : 3,12 % de lignes rejetées</a:t>
            </a:r>
            <a:endParaRPr lang="en-US" sz="3200" dirty="0"/>
          </a:p>
        </p:txBody>
      </p:sp>
      <p:sp>
        <p:nvSpPr>
          <p:cNvPr id="3" name="Shape 1"/>
          <p:cNvSpPr/>
          <p:nvPr/>
        </p:nvSpPr>
        <p:spPr>
          <a:xfrm>
            <a:off x="457200" y="1188720"/>
            <a:ext cx="3017520" cy="3383280"/>
          </a:xfrm>
          <a:prstGeom prst="roundRect">
            <a:avLst>
              <a:gd name="adj" fmla="val 3636"/>
            </a:avLst>
          </a:prstGeom>
          <a:solidFill>
            <a:srgbClr val="1B1F2A"/>
          </a:solidFill>
          <a:ln/>
        </p:spPr>
      </p:sp>
      <p:sp>
        <p:nvSpPr>
          <p:cNvPr id="4" name="Text 2"/>
          <p:cNvSpPr txBox="1"/>
          <p:nvPr/>
        </p:nvSpPr>
        <p:spPr>
          <a:xfrm>
            <a:off x="457200" y="1554480"/>
            <a:ext cx="3017520" cy="1005840"/>
          </a:xfrm>
          <a:prstGeom prst="rect">
            <a:avLst/>
          </a:prstGeom>
          <a:noFill/>
          <a:ln/>
        </p:spPr>
        <p:txBody>
          <a:bodyPr wrap="square" lIns="0" tIns="0" rIns="0" bIns="0" rtlCol="0" anchor="ctr"/>
          <a:lstStyle/>
          <a:p>
            <a:pPr algn="ctr" indent="0" marL="0">
              <a:buNone/>
            </a:pPr>
            <a:r>
              <a:rPr lang="en-US" sz="6000" b="1" dirty="0">
                <a:solidFill>
                  <a:srgbClr val="F7B500"/>
                </a:solidFill>
                <a:latin typeface="Cambria" pitchFamily="34" charset="0"/>
                <a:ea typeface="Cambria" pitchFamily="34" charset="-122"/>
                <a:cs typeface="Cambria" pitchFamily="34" charset="-120"/>
              </a:rPr>
              <a:t>3,12 %</a:t>
            </a:r>
            <a:endParaRPr lang="en-US" sz="6000" dirty="0"/>
          </a:p>
        </p:txBody>
      </p:sp>
      <p:sp>
        <p:nvSpPr>
          <p:cNvPr id="5" name="Text 3"/>
          <p:cNvSpPr txBox="1"/>
          <p:nvPr/>
        </p:nvSpPr>
        <p:spPr>
          <a:xfrm>
            <a:off x="457200" y="2606040"/>
            <a:ext cx="301752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des lignes rejetées</a:t>
            </a:r>
            <a:endParaRPr lang="en-US" sz="1600" dirty="0"/>
          </a:p>
        </p:txBody>
      </p:sp>
      <p:sp>
        <p:nvSpPr>
          <p:cNvPr id="6" name="Text 4"/>
          <p:cNvSpPr txBox="1"/>
          <p:nvPr/>
        </p:nvSpPr>
        <p:spPr>
          <a:xfrm>
            <a:off x="457200" y="3017520"/>
            <a:ext cx="3017520" cy="365760"/>
          </a:xfrm>
          <a:prstGeom prst="rect">
            <a:avLst/>
          </a:prstGeom>
          <a:noFill/>
          <a:ln/>
        </p:spPr>
        <p:txBody>
          <a:bodyPr wrap="square" lIns="0" tIns="0" rIns="0" bIns="0" rtlCol="0" anchor="ctr"/>
          <a:lstStyle/>
          <a:p>
            <a:pPr algn="ctr" indent="0" marL="0">
              <a:buNone/>
            </a:pPr>
            <a:r>
              <a:rPr lang="en-US" sz="1400" dirty="0">
                <a:solidFill>
                  <a:srgbClr val="CBD5E1"/>
                </a:solidFill>
                <a:latin typeface="Calibri" pitchFamily="34" charset="0"/>
                <a:ea typeface="Calibri" pitchFamily="34" charset="-122"/>
                <a:cs typeface="Calibri" pitchFamily="34" charset="-120"/>
              </a:rPr>
              <a:t>1 522 287 sur ~48,7 M</a:t>
            </a:r>
            <a:endParaRPr lang="en-US" sz="1400" dirty="0"/>
          </a:p>
        </p:txBody>
      </p:sp>
      <p:sp>
        <p:nvSpPr>
          <p:cNvPr id="7" name="Text 5"/>
          <p:cNvSpPr txBox="1"/>
          <p:nvPr/>
        </p:nvSpPr>
        <p:spPr>
          <a:xfrm>
            <a:off x="457200" y="3840480"/>
            <a:ext cx="3017520" cy="365760"/>
          </a:xfrm>
          <a:prstGeom prst="rect">
            <a:avLst/>
          </a:prstGeom>
          <a:noFill/>
          <a:ln/>
        </p:spPr>
        <p:txBody>
          <a:bodyPr wrap="square" lIns="0" tIns="0" rIns="0" bIns="0" rtlCol="0" anchor="ctr"/>
          <a:lstStyle/>
          <a:p>
            <a:pPr algn="ctr" indent="0" marL="0">
              <a:buNone/>
            </a:pPr>
            <a:r>
              <a:rPr lang="en-US" sz="1300" b="1" dirty="0">
                <a:solidFill>
                  <a:srgbClr val="29B5E8"/>
                </a:solidFill>
                <a:latin typeface="Calibri" pitchFamily="34" charset="0"/>
                <a:ea typeface="Calibri" pitchFamily="34" charset="-122"/>
                <a:cs typeface="Calibri" pitchFamily="34" charset="-120"/>
              </a:rPr>
              <a:t>Contrôles finaux : tous à zéro</a:t>
            </a:r>
            <a:endParaRPr lang="en-US" sz="1300" dirty="0"/>
          </a:p>
        </p:txBody>
      </p:sp>
      <p:sp>
        <p:nvSpPr>
          <p:cNvPr id="8" name="Text 6"/>
          <p:cNvSpPr txBox="1"/>
          <p:nvPr/>
        </p:nvSpPr>
        <p:spPr>
          <a:xfrm>
            <a:off x="3931920" y="1188720"/>
            <a:ext cx="4754880" cy="365760"/>
          </a:xfrm>
          <a:prstGeom prst="rect">
            <a:avLst/>
          </a:prstGeom>
          <a:noFill/>
          <a:ln/>
        </p:spPr>
        <p:txBody>
          <a:bodyPr wrap="square" lIns="0" tIns="0" rIns="0" bIns="0" rtlCol="0" anchor="ctr"/>
          <a:lstStyle/>
          <a:p>
            <a:pPr indent="0" marL="0">
              <a:buNone/>
            </a:pPr>
            <a:r>
              <a:rPr lang="en-US" sz="1800" b="1" dirty="0">
                <a:solidFill>
                  <a:srgbClr val="1B1F2A"/>
                </a:solidFill>
                <a:latin typeface="Calibri" pitchFamily="34" charset="0"/>
                <a:ea typeface="Calibri" pitchFamily="34" charset="-122"/>
                <a:cs typeface="Calibri" pitchFamily="34" charset="-120"/>
              </a:rPr>
              <a:t>Règles appliquées en STAGING</a:t>
            </a:r>
            <a:endParaRPr lang="en-US" sz="1800" dirty="0"/>
          </a:p>
        </p:txBody>
      </p:sp>
      <p:sp>
        <p:nvSpPr>
          <p:cNvPr id="9" name="Shape 7"/>
          <p:cNvSpPr/>
          <p:nvPr/>
        </p:nvSpPr>
        <p:spPr>
          <a:xfrm>
            <a:off x="3931920" y="1691640"/>
            <a:ext cx="365760" cy="365760"/>
          </a:xfrm>
          <a:prstGeom prst="ellipse">
            <a:avLst/>
          </a:prstGeom>
          <a:solidFill>
            <a:srgbClr val="F7B500"/>
          </a:solidFill>
          <a:ln w="12700">
            <a:solidFill>
              <a:srgbClr val="F7B500"/>
            </a:solidFill>
            <a:prstDash val="solid"/>
          </a:ln>
        </p:spPr>
      </p:sp>
      <p:sp>
        <p:nvSpPr>
          <p:cNvPr id="10" name="Text 8"/>
          <p:cNvSpPr txBox="1"/>
          <p:nvPr/>
        </p:nvSpPr>
        <p:spPr>
          <a:xfrm>
            <a:off x="3931920" y="1691640"/>
            <a:ext cx="365760" cy="365760"/>
          </a:xfrm>
          <a:prstGeom prst="rect">
            <a:avLst/>
          </a:prstGeom>
          <a:noFill/>
          <a:ln/>
        </p:spPr>
        <p:txBody>
          <a:bodyPr wrap="square" lIns="0" tIns="0" rIns="0" bIns="0" rtlCol="0" anchor="ctr"/>
          <a:lstStyle/>
          <a:p>
            <a:pPr algn="ctr" indent="0" marL="0">
              <a:buNone/>
            </a:pPr>
            <a:r>
              <a:rPr lang="en-US" sz="1400" b="1" dirty="0">
                <a:solidFill>
                  <a:srgbClr val="1B1F2A"/>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4480560" y="1691640"/>
            <a:ext cx="4206240" cy="365760"/>
          </a:xfrm>
          <a:prstGeom prst="rect">
            <a:avLst/>
          </a:prstGeom>
          <a:noFill/>
          <a:ln/>
        </p:spPr>
        <p:txBody>
          <a:bodyPr wrap="square" lIns="0" tIns="0" rIns="0" bIns="0" rtlCol="0" anchor="ctr"/>
          <a:lstStyle/>
          <a:p>
            <a:pPr indent="0" marL="0">
              <a:buNone/>
            </a:pPr>
            <a:r>
              <a:rPr lang="en-US" sz="1600" dirty="0">
                <a:solidFill>
                  <a:srgbClr val="1B1F2A"/>
                </a:solidFill>
                <a:latin typeface="Calibri" pitchFamily="34" charset="0"/>
                <a:ea typeface="Calibri" pitchFamily="34" charset="-122"/>
                <a:cs typeface="Calibri" pitchFamily="34" charset="-120"/>
              </a:rPr>
              <a:t>Horodatages présents</a:t>
            </a:r>
            <a:endParaRPr lang="en-US" sz="1600" dirty="0"/>
          </a:p>
        </p:txBody>
      </p:sp>
      <p:sp>
        <p:nvSpPr>
          <p:cNvPr id="12" name="Shape 10"/>
          <p:cNvSpPr/>
          <p:nvPr/>
        </p:nvSpPr>
        <p:spPr>
          <a:xfrm>
            <a:off x="3931920" y="2221992"/>
            <a:ext cx="365760" cy="365760"/>
          </a:xfrm>
          <a:prstGeom prst="ellipse">
            <a:avLst/>
          </a:prstGeom>
          <a:solidFill>
            <a:srgbClr val="F7B500"/>
          </a:solidFill>
          <a:ln w="12700">
            <a:solidFill>
              <a:srgbClr val="F7B500"/>
            </a:solidFill>
            <a:prstDash val="solid"/>
          </a:ln>
        </p:spPr>
      </p:sp>
      <p:sp>
        <p:nvSpPr>
          <p:cNvPr id="13" name="Text 11"/>
          <p:cNvSpPr txBox="1"/>
          <p:nvPr/>
        </p:nvSpPr>
        <p:spPr>
          <a:xfrm>
            <a:off x="3931920" y="2221992"/>
            <a:ext cx="365760" cy="365760"/>
          </a:xfrm>
          <a:prstGeom prst="rect">
            <a:avLst/>
          </a:prstGeom>
          <a:noFill/>
          <a:ln/>
        </p:spPr>
        <p:txBody>
          <a:bodyPr wrap="square" lIns="0" tIns="0" rIns="0" bIns="0" rtlCol="0" anchor="ctr"/>
          <a:lstStyle/>
          <a:p>
            <a:pPr algn="ctr" indent="0" marL="0">
              <a:buNone/>
            </a:pPr>
            <a:r>
              <a:rPr lang="en-US" sz="1400" b="1" dirty="0">
                <a:solidFill>
                  <a:srgbClr val="1B1F2A"/>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4480560" y="2221992"/>
            <a:ext cx="4206240" cy="365760"/>
          </a:xfrm>
          <a:prstGeom prst="rect">
            <a:avLst/>
          </a:prstGeom>
          <a:noFill/>
          <a:ln/>
        </p:spPr>
        <p:txBody>
          <a:bodyPr wrap="square" lIns="0" tIns="0" rIns="0" bIns="0" rtlCol="0" anchor="ctr"/>
          <a:lstStyle/>
          <a:p>
            <a:pPr indent="0" marL="0">
              <a:buNone/>
            </a:pPr>
            <a:r>
              <a:rPr lang="en-US" sz="1600" dirty="0">
                <a:solidFill>
                  <a:srgbClr val="1B1F2A"/>
                </a:solidFill>
                <a:latin typeface="Calibri" pitchFamily="34" charset="0"/>
                <a:ea typeface="Calibri" pitchFamily="34" charset="-122"/>
                <a:cs typeface="Calibri" pitchFamily="34" charset="-120"/>
              </a:rPr>
              <a:t>Dépose après la prise en charge</a:t>
            </a:r>
            <a:endParaRPr lang="en-US" sz="1600" dirty="0"/>
          </a:p>
        </p:txBody>
      </p:sp>
      <p:sp>
        <p:nvSpPr>
          <p:cNvPr id="15" name="Shape 13"/>
          <p:cNvSpPr/>
          <p:nvPr/>
        </p:nvSpPr>
        <p:spPr>
          <a:xfrm>
            <a:off x="3931920" y="2752344"/>
            <a:ext cx="365760" cy="365760"/>
          </a:xfrm>
          <a:prstGeom prst="ellipse">
            <a:avLst/>
          </a:prstGeom>
          <a:solidFill>
            <a:srgbClr val="F7B500"/>
          </a:solidFill>
          <a:ln w="12700">
            <a:solidFill>
              <a:srgbClr val="F7B500"/>
            </a:solidFill>
            <a:prstDash val="solid"/>
          </a:ln>
        </p:spPr>
      </p:sp>
      <p:sp>
        <p:nvSpPr>
          <p:cNvPr id="16" name="Text 14"/>
          <p:cNvSpPr txBox="1"/>
          <p:nvPr/>
        </p:nvSpPr>
        <p:spPr>
          <a:xfrm>
            <a:off x="3931920" y="2752344"/>
            <a:ext cx="365760" cy="365760"/>
          </a:xfrm>
          <a:prstGeom prst="rect">
            <a:avLst/>
          </a:prstGeom>
          <a:noFill/>
          <a:ln/>
        </p:spPr>
        <p:txBody>
          <a:bodyPr wrap="square" lIns="0" tIns="0" rIns="0" bIns="0" rtlCol="0" anchor="ctr"/>
          <a:lstStyle/>
          <a:p>
            <a:pPr algn="ctr" indent="0" marL="0">
              <a:buNone/>
            </a:pPr>
            <a:r>
              <a:rPr lang="en-US" sz="1400" b="1" dirty="0">
                <a:solidFill>
                  <a:srgbClr val="1B1F2A"/>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4480560" y="2752344"/>
            <a:ext cx="4206240" cy="365760"/>
          </a:xfrm>
          <a:prstGeom prst="rect">
            <a:avLst/>
          </a:prstGeom>
          <a:noFill/>
          <a:ln/>
        </p:spPr>
        <p:txBody>
          <a:bodyPr wrap="square" lIns="0" tIns="0" rIns="0" bIns="0" rtlCol="0" anchor="ctr"/>
          <a:lstStyle/>
          <a:p>
            <a:pPr indent="0" marL="0">
              <a:buNone/>
            </a:pPr>
            <a:r>
              <a:rPr lang="en-US" sz="1600" dirty="0">
                <a:solidFill>
                  <a:srgbClr val="1B1F2A"/>
                </a:solidFill>
                <a:latin typeface="Calibri" pitchFamily="34" charset="0"/>
                <a:ea typeface="Calibri" pitchFamily="34" charset="-122"/>
                <a:cs typeface="Calibri" pitchFamily="34" charset="-120"/>
              </a:rPr>
              <a:t>Distance &gt; 0 et ≤ 1 000 miles</a:t>
            </a:r>
            <a:endParaRPr lang="en-US" sz="1600" dirty="0"/>
          </a:p>
        </p:txBody>
      </p:sp>
      <p:sp>
        <p:nvSpPr>
          <p:cNvPr id="18" name="Shape 16"/>
          <p:cNvSpPr/>
          <p:nvPr/>
        </p:nvSpPr>
        <p:spPr>
          <a:xfrm>
            <a:off x="3931920" y="3282696"/>
            <a:ext cx="365760" cy="365760"/>
          </a:xfrm>
          <a:prstGeom prst="ellipse">
            <a:avLst/>
          </a:prstGeom>
          <a:solidFill>
            <a:srgbClr val="F7B500"/>
          </a:solidFill>
          <a:ln w="12700">
            <a:solidFill>
              <a:srgbClr val="F7B500"/>
            </a:solidFill>
            <a:prstDash val="solid"/>
          </a:ln>
        </p:spPr>
      </p:sp>
      <p:sp>
        <p:nvSpPr>
          <p:cNvPr id="19" name="Text 17"/>
          <p:cNvSpPr txBox="1"/>
          <p:nvPr/>
        </p:nvSpPr>
        <p:spPr>
          <a:xfrm>
            <a:off x="3931920" y="3282696"/>
            <a:ext cx="365760" cy="365760"/>
          </a:xfrm>
          <a:prstGeom prst="rect">
            <a:avLst/>
          </a:prstGeom>
          <a:noFill/>
          <a:ln/>
        </p:spPr>
        <p:txBody>
          <a:bodyPr wrap="square" lIns="0" tIns="0" rIns="0" bIns="0" rtlCol="0" anchor="ctr"/>
          <a:lstStyle/>
          <a:p>
            <a:pPr algn="ctr" indent="0" marL="0">
              <a:buNone/>
            </a:pPr>
            <a:r>
              <a:rPr lang="en-US" sz="1400" b="1" dirty="0">
                <a:solidFill>
                  <a:srgbClr val="1B1F2A"/>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4480560" y="3282696"/>
            <a:ext cx="4206240" cy="365760"/>
          </a:xfrm>
          <a:prstGeom prst="rect">
            <a:avLst/>
          </a:prstGeom>
          <a:noFill/>
          <a:ln/>
        </p:spPr>
        <p:txBody>
          <a:bodyPr wrap="square" lIns="0" tIns="0" rIns="0" bIns="0" rtlCol="0" anchor="ctr"/>
          <a:lstStyle/>
          <a:p>
            <a:pPr indent="0" marL="0">
              <a:buNone/>
            </a:pPr>
            <a:r>
              <a:rPr lang="en-US" sz="1600" dirty="0">
                <a:solidFill>
                  <a:srgbClr val="1B1F2A"/>
                </a:solidFill>
                <a:latin typeface="Calibri" pitchFamily="34" charset="0"/>
                <a:ea typeface="Calibri" pitchFamily="34" charset="-122"/>
                <a:cs typeface="Calibri" pitchFamily="34" charset="-120"/>
              </a:rPr>
              <a:t>Montant total ≥ 0</a:t>
            </a:r>
            <a:endParaRPr lang="en-US" sz="1600" dirty="0"/>
          </a:p>
        </p:txBody>
      </p:sp>
      <p:sp>
        <p:nvSpPr>
          <p:cNvPr id="21" name="Shape 19"/>
          <p:cNvSpPr/>
          <p:nvPr/>
        </p:nvSpPr>
        <p:spPr>
          <a:xfrm>
            <a:off x="3931920" y="3813048"/>
            <a:ext cx="365760" cy="365760"/>
          </a:xfrm>
          <a:prstGeom prst="ellipse">
            <a:avLst/>
          </a:prstGeom>
          <a:solidFill>
            <a:srgbClr val="F4F5F7"/>
          </a:solidFill>
          <a:ln w="12700">
            <a:solidFill>
              <a:srgbClr val="CBD5E1"/>
            </a:solidFill>
            <a:prstDash val="solid"/>
          </a:ln>
        </p:spPr>
      </p:sp>
      <p:sp>
        <p:nvSpPr>
          <p:cNvPr id="22" name="Text 20"/>
          <p:cNvSpPr txBox="1"/>
          <p:nvPr/>
        </p:nvSpPr>
        <p:spPr>
          <a:xfrm>
            <a:off x="3931920" y="3813048"/>
            <a:ext cx="365760" cy="365760"/>
          </a:xfrm>
          <a:prstGeom prst="rect">
            <a:avLst/>
          </a:prstGeom>
          <a:noFill/>
          <a:ln/>
        </p:spPr>
        <p:txBody>
          <a:bodyPr wrap="square" lIns="0" tIns="0" rIns="0" bIns="0" rtlCol="0" anchor="ctr"/>
          <a:lstStyle/>
          <a:p>
            <a:pPr algn="ctr" indent="0" marL="0">
              <a:buNone/>
            </a:pPr>
            <a:r>
              <a:rPr lang="en-US" sz="1400" b="1" dirty="0">
                <a:solidFill>
                  <a:srgbClr val="1B1F2A"/>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4480560" y="3813048"/>
            <a:ext cx="4206240" cy="365760"/>
          </a:xfrm>
          <a:prstGeom prst="rect">
            <a:avLst/>
          </a:prstGeom>
          <a:noFill/>
          <a:ln/>
        </p:spPr>
        <p:txBody>
          <a:bodyPr wrap="square" lIns="0" tIns="0" rIns="0" bIns="0" rtlCol="0" anchor="ctr"/>
          <a:lstStyle/>
          <a:p>
            <a:pPr indent="0" marL="0">
              <a:buNone/>
            </a:pPr>
            <a:r>
              <a:rPr lang="en-US" sz="1600" dirty="0">
                <a:solidFill>
                  <a:srgbClr val="1B1F2A"/>
                </a:solidFill>
                <a:latin typeface="Calibri" pitchFamily="34" charset="0"/>
                <a:ea typeface="Calibri" pitchFamily="34" charset="-122"/>
                <a:cs typeface="Calibri" pitchFamily="34" charset="-120"/>
              </a:rPr>
              <a:t>Passagers manquants : gardés en NULL</a:t>
            </a:r>
            <a:endParaRPr lang="en-US" sz="1600" dirty="0"/>
          </a:p>
        </p:txBody>
      </p:sp>
      <p:sp>
        <p:nvSpPr>
          <p:cNvPr id="24" name="Text 22"/>
          <p:cNvSpPr txBox="1"/>
          <p:nvPr/>
        </p:nvSpPr>
        <p:spPr>
          <a:xfrm>
            <a:off x="3931920" y="4389120"/>
            <a:ext cx="475488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Rejet = règles 1 à 4. Règle 5 : pas d'imputation, pour ne pas fausser les totaux.</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Des KPIs prêts pour la décision</a:t>
            </a:r>
            <a:endParaRPr lang="en-US" sz="3200" dirty="0"/>
          </a:p>
        </p:txBody>
      </p:sp>
      <p:sp>
        <p:nvSpPr>
          <p:cNvPr id="3" name="Shape 1"/>
          <p:cNvSpPr/>
          <p:nvPr/>
        </p:nvSpPr>
        <p:spPr>
          <a:xfrm>
            <a:off x="457200" y="1188720"/>
            <a:ext cx="2377440" cy="2011680"/>
          </a:xfrm>
          <a:prstGeom prst="roundRect">
            <a:avLst>
              <a:gd name="adj" fmla="val 5455"/>
            </a:avLst>
          </a:prstGeom>
          <a:solidFill>
            <a:srgbClr val="F4F5F7"/>
          </a:solidFill>
          <a:ln/>
          <a:effectLst>
            <a:outerShdw sx="100000" sy="100000" kx="0" ky="0" algn="bl" rotWithShape="0" blurRad="76200" dist="25400" dir="5400000">
              <a:srgbClr val="000000">
                <a:alpha val="12000"/>
              </a:srgbClr>
            </a:outerShdw>
          </a:effectLst>
        </p:spPr>
      </p:sp>
      <p:sp>
        <p:nvSpPr>
          <p:cNvPr id="4" name="Text 2"/>
          <p:cNvSpPr txBox="1"/>
          <p:nvPr/>
        </p:nvSpPr>
        <p:spPr>
          <a:xfrm>
            <a:off x="640080" y="1325880"/>
            <a:ext cx="2057400" cy="365760"/>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DAILY_SUMMARY</a:t>
            </a:r>
            <a:endParaRPr lang="en-US" sz="1600" dirty="0"/>
          </a:p>
        </p:txBody>
      </p:sp>
      <p:sp>
        <p:nvSpPr>
          <p:cNvPr id="5" name="Text 3"/>
          <p:cNvSpPr txBox="1"/>
          <p:nvPr/>
        </p:nvSpPr>
        <p:spPr>
          <a:xfrm>
            <a:off x="640080" y="1737360"/>
            <a:ext cx="20574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 ligne par jour</a:t>
            </a:r>
            <a:endParaRPr lang="en-US" sz="1200" dirty="0"/>
          </a:p>
        </p:txBody>
      </p:sp>
      <p:sp>
        <p:nvSpPr>
          <p:cNvPr id="6" name="Text 4"/>
          <p:cNvSpPr txBox="1"/>
          <p:nvPr/>
        </p:nvSpPr>
        <p:spPr>
          <a:xfrm>
            <a:off x="640080" y="2103120"/>
            <a:ext cx="2057400" cy="91440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Courses, passagers, revenu total, montant moyen</a:t>
            </a:r>
            <a:endParaRPr lang="en-US" sz="1400" dirty="0"/>
          </a:p>
        </p:txBody>
      </p:sp>
      <p:sp>
        <p:nvSpPr>
          <p:cNvPr id="7" name="Shape 5"/>
          <p:cNvSpPr/>
          <p:nvPr/>
        </p:nvSpPr>
        <p:spPr>
          <a:xfrm>
            <a:off x="3383280" y="1188720"/>
            <a:ext cx="2377440" cy="2011680"/>
          </a:xfrm>
          <a:prstGeom prst="roundRect">
            <a:avLst>
              <a:gd name="adj" fmla="val 5455"/>
            </a:avLst>
          </a:prstGeom>
          <a:solidFill>
            <a:srgbClr val="F4F5F7"/>
          </a:solidFill>
          <a:ln/>
          <a:effectLst>
            <a:outerShdw sx="100000" sy="100000" kx="0" ky="0" algn="bl" rotWithShape="0" blurRad="76200" dist="25400" dir="5400000">
              <a:srgbClr val="000000">
                <a:alpha val="12000"/>
              </a:srgbClr>
            </a:outerShdw>
          </a:effectLst>
        </p:spPr>
      </p:sp>
      <p:sp>
        <p:nvSpPr>
          <p:cNvPr id="8" name="Text 6"/>
          <p:cNvSpPr txBox="1"/>
          <p:nvPr/>
        </p:nvSpPr>
        <p:spPr>
          <a:xfrm>
            <a:off x="3566160" y="1325880"/>
            <a:ext cx="2057400" cy="365760"/>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HOURLY_PATTERNS</a:t>
            </a:r>
            <a:endParaRPr lang="en-US" sz="1600" dirty="0"/>
          </a:p>
        </p:txBody>
      </p:sp>
      <p:sp>
        <p:nvSpPr>
          <p:cNvPr id="9" name="Text 7"/>
          <p:cNvSpPr txBox="1"/>
          <p:nvPr/>
        </p:nvSpPr>
        <p:spPr>
          <a:xfrm>
            <a:off x="3566160" y="1737360"/>
            <a:ext cx="20574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 ligne par heure</a:t>
            </a:r>
            <a:endParaRPr lang="en-US" sz="1200" dirty="0"/>
          </a:p>
        </p:txBody>
      </p:sp>
      <p:sp>
        <p:nvSpPr>
          <p:cNvPr id="10" name="Text 8"/>
          <p:cNvSpPr txBox="1"/>
          <p:nvPr/>
        </p:nvSpPr>
        <p:spPr>
          <a:xfrm>
            <a:off x="3566160" y="2103120"/>
            <a:ext cx="2057400" cy="91440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Courses et vitesse moyenne par période de la journée</a:t>
            </a:r>
            <a:endParaRPr lang="en-US" sz="1400" dirty="0"/>
          </a:p>
        </p:txBody>
      </p:sp>
      <p:sp>
        <p:nvSpPr>
          <p:cNvPr id="11" name="Shape 9"/>
          <p:cNvSpPr/>
          <p:nvPr/>
        </p:nvSpPr>
        <p:spPr>
          <a:xfrm>
            <a:off x="6309360" y="1188720"/>
            <a:ext cx="2377440" cy="2011680"/>
          </a:xfrm>
          <a:prstGeom prst="roundRect">
            <a:avLst>
              <a:gd name="adj" fmla="val 5455"/>
            </a:avLst>
          </a:prstGeom>
          <a:solidFill>
            <a:srgbClr val="F4F5F7"/>
          </a:solidFill>
          <a:ln/>
          <a:effectLst>
            <a:outerShdw sx="100000" sy="100000" kx="0" ky="0" algn="bl" rotWithShape="0" blurRad="76200" dist="25400" dir="5400000">
              <a:srgbClr val="000000">
                <a:alpha val="12000"/>
              </a:srgbClr>
            </a:outerShdw>
          </a:effectLst>
        </p:spPr>
      </p:sp>
      <p:sp>
        <p:nvSpPr>
          <p:cNvPr id="12" name="Text 10"/>
          <p:cNvSpPr txBox="1"/>
          <p:nvPr/>
        </p:nvSpPr>
        <p:spPr>
          <a:xfrm>
            <a:off x="6492240" y="1325880"/>
            <a:ext cx="2057400" cy="365760"/>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ZONE_ANALYSIS</a:t>
            </a:r>
            <a:endParaRPr lang="en-US" sz="1600" dirty="0"/>
          </a:p>
        </p:txBody>
      </p:sp>
      <p:sp>
        <p:nvSpPr>
          <p:cNvPr id="13" name="Text 11"/>
          <p:cNvSpPr txBox="1"/>
          <p:nvPr/>
        </p:nvSpPr>
        <p:spPr>
          <a:xfrm>
            <a:off x="6492240" y="1737360"/>
            <a:ext cx="20574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 ligne par zone de départ</a:t>
            </a:r>
            <a:endParaRPr lang="en-US" sz="1200" dirty="0"/>
          </a:p>
        </p:txBody>
      </p:sp>
      <p:sp>
        <p:nvSpPr>
          <p:cNvPr id="14" name="Text 12"/>
          <p:cNvSpPr txBox="1"/>
          <p:nvPr/>
        </p:nvSpPr>
        <p:spPr>
          <a:xfrm>
            <a:off x="6492240" y="2103120"/>
            <a:ext cx="2057400" cy="91440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Courses, revenu, distance, pourboire moyen</a:t>
            </a:r>
            <a:endParaRPr lang="en-US" sz="1400" dirty="0"/>
          </a:p>
        </p:txBody>
      </p:sp>
      <p:sp>
        <p:nvSpPr>
          <p:cNvPr id="15" name="Shape 13"/>
          <p:cNvSpPr/>
          <p:nvPr/>
        </p:nvSpPr>
        <p:spPr>
          <a:xfrm>
            <a:off x="457200" y="3474720"/>
            <a:ext cx="4023360" cy="1097280"/>
          </a:xfrm>
          <a:prstGeom prst="roundRect">
            <a:avLst>
              <a:gd name="adj" fmla="val 10000"/>
            </a:avLst>
          </a:prstGeom>
          <a:solidFill>
            <a:srgbClr val="1B1F2A"/>
          </a:solidFill>
          <a:ln/>
        </p:spPr>
      </p:sp>
      <p:sp>
        <p:nvSpPr>
          <p:cNvPr id="16" name="Text 14"/>
          <p:cNvSpPr txBox="1"/>
          <p:nvPr/>
        </p:nvSpPr>
        <p:spPr>
          <a:xfrm>
            <a:off x="685800" y="3566160"/>
            <a:ext cx="3611880" cy="914400"/>
          </a:xfrm>
          <a:prstGeom prst="rect">
            <a:avLst/>
          </a:prstGeom>
          <a:noFill/>
          <a:ln/>
        </p:spPr>
        <p:txBody>
          <a:bodyPr wrap="square" lIns="0" tIns="0" rIns="0" bIns="0" rtlCol="0" anchor="ctr"/>
          <a:lstStyle/>
          <a:p>
            <a:pPr indent="0" marL="0">
              <a:buNone/>
            </a:pPr>
            <a:r>
              <a:rPr lang="en-US" sz="1800" b="1" dirty="0">
                <a:solidFill>
                  <a:srgbClr val="F7B500"/>
                </a:solidFill>
                <a:latin typeface="Calibri" pitchFamily="34" charset="0"/>
                <a:ea typeface="Calibri" pitchFamily="34" charset="-122"/>
                <a:cs typeface="Calibri" pitchFamily="34" charset="-120"/>
              </a:rPr>
              <a:t>dbt</a:t>
            </a:r>
            <a:endParaRPr lang="en-US" sz="1800" dirty="0"/>
          </a:p>
          <a:p>
            <a:pPr indent="0" marL="0">
              <a:buNone/>
            </a:pPr>
            <a:r>
              <a:rPr lang="en-US" sz="1300" dirty="0">
                <a:solidFill>
                  <a:srgbClr val="FFFFFF"/>
                </a:solidFill>
                <a:latin typeface="Calibri" pitchFamily="34" charset="0"/>
                <a:ea typeface="Calibri" pitchFamily="34" charset="-122"/>
                <a:cs typeface="Calibri" pitchFamily="34" charset="-120"/>
              </a:rPr>
              <a:t>Modèles versionnés, tests not_null et unique sur chaque clé</a:t>
            </a:r>
            <a:endParaRPr lang="en-US" sz="1800" dirty="0"/>
          </a:p>
        </p:txBody>
      </p:sp>
      <p:sp>
        <p:nvSpPr>
          <p:cNvPr id="17" name="Shape 15"/>
          <p:cNvSpPr/>
          <p:nvPr/>
        </p:nvSpPr>
        <p:spPr>
          <a:xfrm>
            <a:off x="4663440" y="3474720"/>
            <a:ext cx="4023360" cy="1097280"/>
          </a:xfrm>
          <a:prstGeom prst="roundRect">
            <a:avLst>
              <a:gd name="adj" fmla="val 10000"/>
            </a:avLst>
          </a:prstGeom>
          <a:solidFill>
            <a:srgbClr val="1B1F2A"/>
          </a:solidFill>
          <a:ln/>
        </p:spPr>
      </p:sp>
      <p:sp>
        <p:nvSpPr>
          <p:cNvPr id="18" name="Text 16"/>
          <p:cNvSpPr txBox="1"/>
          <p:nvPr/>
        </p:nvSpPr>
        <p:spPr>
          <a:xfrm>
            <a:off x="4892040" y="3566160"/>
            <a:ext cx="3611880" cy="914400"/>
          </a:xfrm>
          <a:prstGeom prst="rect">
            <a:avLst/>
          </a:prstGeom>
          <a:noFill/>
          <a:ln/>
        </p:spPr>
        <p:txBody>
          <a:bodyPr wrap="square" lIns="0" tIns="0" rIns="0" bIns="0" rtlCol="0" anchor="ctr"/>
          <a:lstStyle/>
          <a:p>
            <a:pPr indent="0" marL="0">
              <a:buNone/>
            </a:pPr>
            <a:r>
              <a:rPr lang="en-US" sz="1800" b="1" dirty="0">
                <a:solidFill>
                  <a:srgbClr val="F7B500"/>
                </a:solidFill>
                <a:latin typeface="Calibri" pitchFamily="34" charset="0"/>
                <a:ea typeface="Calibri" pitchFamily="34" charset="-122"/>
                <a:cs typeface="Calibri" pitchFamily="34" charset="-120"/>
              </a:rPr>
              <a:t>Dashboard Streamlit</a:t>
            </a:r>
            <a:endParaRPr lang="en-US" sz="1800" dirty="0"/>
          </a:p>
          <a:p>
            <a:pPr indent="0" marL="0">
              <a:buNone/>
            </a:pPr>
            <a:r>
              <a:rPr lang="en-US" sz="1300" dirty="0">
                <a:solidFill>
                  <a:srgbClr val="FFFFFF"/>
                </a:solidFill>
                <a:latin typeface="Calibri" pitchFamily="34" charset="0"/>
                <a:ea typeface="Calibri" pitchFamily="34" charset="-122"/>
                <a:cs typeface="Calibri" pitchFamily="34" charset="-120"/>
              </a:rPr>
              <a:t>KPIs globaux + 4 onglets : jour, heure, zone, qualité</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2A"/>
        </a:solidFill>
      </p:bgPr>
    </p:bg>
    <p:spTree>
      <p:nvGrpSpPr>
        <p:cNvPr id="1" name=""/>
        <p:cNvGrpSpPr/>
        <p:nvPr/>
      </p:nvGrpSpPr>
      <p:grpSpPr>
        <a:xfrm>
          <a:off x="0" y="0"/>
          <a:ext cx="0" cy="0"/>
          <a:chOff x="0" y="0"/>
          <a:chExt cx="0" cy="0"/>
        </a:xfrm>
      </p:grpSpPr>
      <p:sp>
        <p:nvSpPr>
          <p:cNvPr id="2" name="Text 0"/>
          <p:cNvSpPr txBox="1"/>
          <p:nvPr/>
        </p:nvSpPr>
        <p:spPr>
          <a:xfrm>
            <a:off x="548640" y="548640"/>
            <a:ext cx="80467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Démonstration</a:t>
            </a:r>
            <a:endParaRPr lang="en-US" sz="4400" dirty="0"/>
          </a:p>
        </p:txBody>
      </p:sp>
      <p:sp>
        <p:nvSpPr>
          <p:cNvPr id="3" name="Shape 1"/>
          <p:cNvSpPr/>
          <p:nvPr/>
        </p:nvSpPr>
        <p:spPr>
          <a:xfrm>
            <a:off x="548640" y="2103120"/>
            <a:ext cx="640080" cy="640080"/>
          </a:xfrm>
          <a:prstGeom prst="ellipse">
            <a:avLst/>
          </a:prstGeom>
          <a:solidFill>
            <a:srgbClr val="F7B500"/>
          </a:solidFill>
          <a:ln w="12700">
            <a:solidFill>
              <a:srgbClr val="F7B500"/>
            </a:solidFill>
            <a:prstDash val="solid"/>
          </a:ln>
        </p:spPr>
      </p:sp>
      <p:sp>
        <p:nvSpPr>
          <p:cNvPr id="4" name="Text 2"/>
          <p:cNvSpPr txBox="1"/>
          <p:nvPr/>
        </p:nvSpPr>
        <p:spPr>
          <a:xfrm>
            <a:off x="548640" y="2103120"/>
            <a:ext cx="640080" cy="640080"/>
          </a:xfrm>
          <a:prstGeom prst="rect">
            <a:avLst/>
          </a:prstGeom>
          <a:noFill/>
          <a:ln/>
        </p:spPr>
        <p:txBody>
          <a:bodyPr wrap="square" lIns="0" tIns="0" rIns="0" bIns="0" rtlCol="0" anchor="ctr"/>
          <a:lstStyle/>
          <a:p>
            <a:pPr algn="ctr" indent="0" marL="0">
              <a:buNone/>
            </a:pPr>
            <a:r>
              <a:rPr lang="en-US" sz="2400" b="1" dirty="0">
                <a:solidFill>
                  <a:srgbClr val="1B1F2A"/>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548640" y="2926080"/>
            <a:ext cx="256032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KPIs globaux</a:t>
            </a:r>
            <a:endParaRPr lang="en-US" sz="2000" dirty="0"/>
          </a:p>
        </p:txBody>
      </p:sp>
      <p:sp>
        <p:nvSpPr>
          <p:cNvPr id="6" name="Text 4"/>
          <p:cNvSpPr txBox="1"/>
          <p:nvPr/>
        </p:nvSpPr>
        <p:spPr>
          <a:xfrm>
            <a:off x="548640" y="3337560"/>
            <a:ext cx="2560320" cy="548640"/>
          </a:xfrm>
          <a:prstGeom prst="rect">
            <a:avLst/>
          </a:prstGeom>
          <a:noFill/>
          <a:ln/>
        </p:spPr>
        <p:txBody>
          <a:bodyPr wrap="square" lIns="0" tIns="0" rIns="0" bIns="0" rtlCol="0" anchor="t"/>
          <a:lstStyle/>
          <a:p>
            <a:pPr indent="0" marL="0">
              <a:buNone/>
            </a:pPr>
            <a:r>
              <a:rPr lang="en-US" sz="1400" dirty="0">
                <a:solidFill>
                  <a:srgbClr val="CBD5E1"/>
                </a:solidFill>
                <a:latin typeface="Calibri" pitchFamily="34" charset="0"/>
                <a:ea typeface="Calibri" pitchFamily="34" charset="-122"/>
                <a:cs typeface="Calibri" pitchFamily="34" charset="-120"/>
              </a:rPr>
              <a:t>Courses, passagers, revenu</a:t>
            </a:r>
            <a:endParaRPr lang="en-US" sz="1400" dirty="0"/>
          </a:p>
        </p:txBody>
      </p:sp>
      <p:sp>
        <p:nvSpPr>
          <p:cNvPr id="7" name="Shape 5"/>
          <p:cNvSpPr/>
          <p:nvPr/>
        </p:nvSpPr>
        <p:spPr>
          <a:xfrm>
            <a:off x="3383280" y="2103120"/>
            <a:ext cx="640080" cy="640080"/>
          </a:xfrm>
          <a:prstGeom prst="ellipse">
            <a:avLst/>
          </a:prstGeom>
          <a:solidFill>
            <a:srgbClr val="F7B500"/>
          </a:solidFill>
          <a:ln w="12700">
            <a:solidFill>
              <a:srgbClr val="F7B500"/>
            </a:solidFill>
            <a:prstDash val="solid"/>
          </a:ln>
        </p:spPr>
      </p:sp>
      <p:sp>
        <p:nvSpPr>
          <p:cNvPr id="8" name="Text 6"/>
          <p:cNvSpPr txBox="1"/>
          <p:nvPr/>
        </p:nvSpPr>
        <p:spPr>
          <a:xfrm>
            <a:off x="3383280" y="2103120"/>
            <a:ext cx="640080" cy="640080"/>
          </a:xfrm>
          <a:prstGeom prst="rect">
            <a:avLst/>
          </a:prstGeom>
          <a:noFill/>
          <a:ln/>
        </p:spPr>
        <p:txBody>
          <a:bodyPr wrap="square" lIns="0" tIns="0" rIns="0" bIns="0" rtlCol="0" anchor="ctr"/>
          <a:lstStyle/>
          <a:p>
            <a:pPr algn="ctr" indent="0" marL="0">
              <a:buNone/>
            </a:pPr>
            <a:r>
              <a:rPr lang="en-US" sz="2400" b="1" dirty="0">
                <a:solidFill>
                  <a:srgbClr val="1B1F2A"/>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3383280" y="2926080"/>
            <a:ext cx="256032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Onglet Par zone</a:t>
            </a:r>
            <a:endParaRPr lang="en-US" sz="2000" dirty="0"/>
          </a:p>
        </p:txBody>
      </p:sp>
      <p:sp>
        <p:nvSpPr>
          <p:cNvPr id="10" name="Text 8"/>
          <p:cNvSpPr txBox="1"/>
          <p:nvPr/>
        </p:nvSpPr>
        <p:spPr>
          <a:xfrm>
            <a:off x="3383280" y="3337560"/>
            <a:ext cx="2560320" cy="548640"/>
          </a:xfrm>
          <a:prstGeom prst="rect">
            <a:avLst/>
          </a:prstGeom>
          <a:noFill/>
          <a:ln/>
        </p:spPr>
        <p:txBody>
          <a:bodyPr wrap="square" lIns="0" tIns="0" rIns="0" bIns="0" rtlCol="0" anchor="t"/>
          <a:lstStyle/>
          <a:p>
            <a:pPr indent="0" marL="0">
              <a:buNone/>
            </a:pPr>
            <a:r>
              <a:rPr lang="en-US" sz="1400" dirty="0">
                <a:solidFill>
                  <a:srgbClr val="CBD5E1"/>
                </a:solidFill>
                <a:latin typeface="Calibri" pitchFamily="34" charset="0"/>
                <a:ea typeface="Calibri" pitchFamily="34" charset="-122"/>
                <a:cs typeface="Calibri" pitchFamily="34" charset="-120"/>
              </a:rPr>
              <a:t>Top N, métrique au choix</a:t>
            </a:r>
            <a:endParaRPr lang="en-US" sz="1400" dirty="0"/>
          </a:p>
        </p:txBody>
      </p:sp>
      <p:sp>
        <p:nvSpPr>
          <p:cNvPr id="11" name="Shape 9"/>
          <p:cNvSpPr/>
          <p:nvPr/>
        </p:nvSpPr>
        <p:spPr>
          <a:xfrm>
            <a:off x="6217920" y="2103120"/>
            <a:ext cx="640080" cy="640080"/>
          </a:xfrm>
          <a:prstGeom prst="ellipse">
            <a:avLst/>
          </a:prstGeom>
          <a:solidFill>
            <a:srgbClr val="F7B500"/>
          </a:solidFill>
          <a:ln w="12700">
            <a:solidFill>
              <a:srgbClr val="F7B500"/>
            </a:solidFill>
            <a:prstDash val="solid"/>
          </a:ln>
        </p:spPr>
      </p:sp>
      <p:sp>
        <p:nvSpPr>
          <p:cNvPr id="12" name="Text 10"/>
          <p:cNvSpPr txBox="1"/>
          <p:nvPr/>
        </p:nvSpPr>
        <p:spPr>
          <a:xfrm>
            <a:off x="6217920" y="2103120"/>
            <a:ext cx="640080" cy="640080"/>
          </a:xfrm>
          <a:prstGeom prst="rect">
            <a:avLst/>
          </a:prstGeom>
          <a:noFill/>
          <a:ln/>
        </p:spPr>
        <p:txBody>
          <a:bodyPr wrap="square" lIns="0" tIns="0" rIns="0" bIns="0" rtlCol="0" anchor="ctr"/>
          <a:lstStyle/>
          <a:p>
            <a:pPr algn="ctr" indent="0" marL="0">
              <a:buNone/>
            </a:pPr>
            <a:r>
              <a:rPr lang="en-US" sz="2400" b="1" dirty="0">
                <a:solidFill>
                  <a:srgbClr val="1B1F2A"/>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6217920" y="2926080"/>
            <a:ext cx="256032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Onglet Qualité</a:t>
            </a:r>
            <a:endParaRPr lang="en-US" sz="2000" dirty="0"/>
          </a:p>
        </p:txBody>
      </p:sp>
      <p:sp>
        <p:nvSpPr>
          <p:cNvPr id="14" name="Text 12"/>
          <p:cNvSpPr txBox="1"/>
          <p:nvPr/>
        </p:nvSpPr>
        <p:spPr>
          <a:xfrm>
            <a:off x="6217920" y="3337560"/>
            <a:ext cx="2560320" cy="548640"/>
          </a:xfrm>
          <a:prstGeom prst="rect">
            <a:avLst/>
          </a:prstGeom>
          <a:noFill/>
          <a:ln/>
        </p:spPr>
        <p:txBody>
          <a:bodyPr wrap="square" lIns="0" tIns="0" rIns="0" bIns="0" rtlCol="0" anchor="t"/>
          <a:lstStyle/>
          <a:p>
            <a:pPr indent="0" marL="0">
              <a:buNone/>
            </a:pPr>
            <a:r>
              <a:rPr lang="en-US" sz="1400" dirty="0">
                <a:solidFill>
                  <a:srgbClr val="CBD5E1"/>
                </a:solidFill>
                <a:latin typeface="Calibri" pitchFamily="34" charset="0"/>
                <a:ea typeface="Calibri" pitchFamily="34" charset="-122"/>
                <a:cs typeface="Calibri" pitchFamily="34" charset="-120"/>
              </a:rPr>
              <a:t>Contrôles sur la table RAW</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2026-10-01T14:11:18Z</dcterms:created>
  <dcterms:modified xsi:type="dcterms:W3CDTF">2026-10-01T14:11:18Z</dcterms:modified>
</cp:coreProperties>
</file>